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77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title, your name, degree and supervisor. Explain that the work develops an automated agentic AI workflow for analysing bias and misinformation risks in AI-generated journalism.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growth of AI-generated journalism and why generated content must be evaluated. Emphasise risks around bias, hallucination, and misinformation.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research problem clearly. Explain that the objective was not just generation but evaluation and comparison of generated content against original journalism.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literature shaped your project. Fang et al. inspired the multi-level bias analysis, while Responsible AI literature guided transparency and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workflow from left to right. Use simple language: collection, preparation, generation, extraction, analysis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node briefly. Do not over-explain. Highlight that this visual design supports transparency because the workflow stages are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study used a comparative approach. Each original article was compared with a generated article, then scores were computed and compared.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GPT generated articles using only the headline. Then explain that original article text needed cleaning because webpages include scripts, menus and formatting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three bias measures. Make clear that these are computational indicators and not definitive political bias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careful here. Explain that the code used semantic overlap, not sklearn cosine similarity. Misinformation risk is an indicator, not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Responsible AI principles you actually implemented. Do not claim human oversight as implemented. Say it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BBC and Guardian bias scores. Highlight that BBC is slightly higher, but both are low and should be interpreted cautiously.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misinformation risk is based on overlap with the source article. Emphasise that it does not prove misinformation; it flags possible divergence.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what the workflow achieved and be honest about limitations. Mention that future work could add human review and external fact-checking.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confidently. Repeat the main contribution: an automated workflow for comparing original and AI-generated journalism with explainable bias and risk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3062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2011680" cy="8621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74519"/>
            <a:ext cx="649224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3600" b="1">
                <a:solidFill>
                  <a:srgbClr val="163159"/>
                </a:solidFill>
              </a:defRPr>
            </a:pPr>
            <a:r>
              <a:rPr dirty="0"/>
              <a:t>AI System for News Bias and</a:t>
            </a:r>
            <a:br>
              <a:rPr dirty="0"/>
            </a:br>
            <a:r>
              <a:rPr dirty="0"/>
              <a:t>Misinformation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99232"/>
            <a:ext cx="649224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2200" b="1">
                <a:solidFill>
                  <a:srgbClr val="A81C44"/>
                </a:solidFill>
              </a:defRPr>
            </a:pPr>
            <a:r>
              <a:t>with Responsible AI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6583680" cy="1097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Muhammad Rizwan Riaz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MSc Artificial Intelligence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Supervisor: Dr Aboozar Taherkhani</a:t>
            </a:r>
          </a:p>
        </p:txBody>
      </p:sp>
      <p:pic>
        <p:nvPicPr>
          <p:cNvPr id="8" name="Picture 7" descr="548c57b6-3b47-4f2e-adf3-f01721b42c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828800"/>
            <a:ext cx="4160520" cy="116245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3383280"/>
            <a:ext cx="4160520" cy="109728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500" b="1">
                <a:solidFill>
                  <a:srgbClr val="163159"/>
                </a:solidFill>
              </a:defRPr>
            </a:pPr>
            <a:r>
              <a:t>Automated agentic AI workflow</a:t>
            </a:r>
            <a:br/>
            <a:r>
              <a:t>BBC + Guardian → GPT → Python analysis →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263640"/>
            <a:ext cx="3383280" cy="274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r">
              <a:defRPr sz="1200" b="0">
                <a:solidFill>
                  <a:srgbClr val="5F6773"/>
                </a:solidFill>
              </a:defRPr>
            </a:pPr>
            <a:r>
              <a:rPr dirty="0"/>
              <a:t>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Background and Motivation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6583680" cy="27432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2100">
                <a:solidFill>
                  <a:srgbClr val="1C232D"/>
                </a:solidFill>
              </a:defRPr>
            </a:pPr>
            <a:r>
              <a:t>AI and Large Language Models are increasingly used in journalism and digital media.</a:t>
            </a:r>
          </a:p>
          <a:p>
            <a:pPr>
              <a:spcAft>
                <a:spcPts val="500"/>
              </a:spcAft>
              <a:defRPr sz="2100">
                <a:solidFill>
                  <a:srgbClr val="1C232D"/>
                </a:solidFill>
              </a:defRPr>
            </a:pPr>
            <a:r>
              <a:t>Generated articles can look coherent, professional and realistic.</a:t>
            </a:r>
          </a:p>
          <a:p>
            <a:pPr>
              <a:spcAft>
                <a:spcPts val="500"/>
              </a:spcAft>
              <a:defRPr sz="2100">
                <a:solidFill>
                  <a:srgbClr val="1C232D"/>
                </a:solidFill>
              </a:defRPr>
            </a:pPr>
            <a:r>
              <a:t>Key risks include misinformation, hallucinated details and linguistic bias.</a:t>
            </a:r>
          </a:p>
          <a:p>
            <a:pPr>
              <a:spcAft>
                <a:spcPts val="500"/>
              </a:spcAft>
              <a:defRPr sz="2100">
                <a:solidFill>
                  <a:srgbClr val="1C232D"/>
                </a:solidFill>
              </a:defRPr>
            </a:pPr>
            <a:r>
              <a:t>The project focuses on evaluating generated news content rather than simply producing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143000"/>
            <a:ext cx="3291840" cy="438912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Main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783080"/>
            <a:ext cx="3657600" cy="13258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Can an automated workflow compare original journalism with AI-generated news?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Can it produce explainable bias and risk indicators?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3794760"/>
            <a:ext cx="3291840" cy="438912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Research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389120"/>
            <a:ext cx="3474720" cy="12801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Bias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Misinformation risk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Semantic overlap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Responsible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Research Problem, Aim and Objectives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120640" cy="16459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AI-generated news may appear factual even when unsupported.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Bias and framing can be difficult to detect manually.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A transparent automated workflow is needed for comparative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51560"/>
            <a:ext cx="3474720" cy="45720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Project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120640" cy="16459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Develop an automated agentic AI workflow.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Analyse bias and misinformation risk in AI-generated journalism.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Use Responsible AI principles to guide system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94760"/>
            <a:ext cx="10332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241280" cy="11887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Collect BBC and Guardian RSS articles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Generate GPT-based news articles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Apply Python bias and risk analysis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Compare original vs generated content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Present findings using dashboard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Literature Review and Research Gap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51560"/>
          <a:ext cx="5166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Contribution to this project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Bender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LLM limitations and unreliable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Weidinger et al.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Ethical and social risks of language models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Fang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Multi-level bias analysis inspiration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Stahl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00">
                          <a:solidFill>
                            <a:srgbClr val="1C232D"/>
                          </a:solidFill>
                        </a:defRPr>
                      </a:pPr>
                      <a:r>
                        <a:t>Responsible AI: transparency and accountability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051560"/>
            <a:ext cx="438912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Research gap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4937760" cy="21031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Live RSS collection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GPT article generation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Bias and sentiment analysis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Misinformation risk estimation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Responsible AI discussion in one automated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241280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900" b="1">
                <a:solidFill>
                  <a:srgbClr val="163159"/>
                </a:solidFill>
              </a:defRPr>
            </a:pPr>
            <a:r>
              <a:t>Gap: limited practical workflows combine live journalism, AI generation, comparative analysis and Responsible AI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Overall n8n Workflow Architecture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5</a:t>
            </a:r>
          </a:p>
        </p:txBody>
      </p:sp>
      <p:pic>
        <p:nvPicPr>
          <p:cNvPr id="6" name="Picture 5" descr="548c57b6-3b47-4f2e-adf3-f01721b42c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05840"/>
            <a:ext cx="11247120" cy="31424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10515600" cy="11430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BBC and Guardian RSS feeds collect live article metadata.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GPT generates a headline-based news article.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HTTP request and Python extraction clean the original article text.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Python analysis calculates bias, sentiment, similarity and misinformation risk.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Final dashboard presents comparative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Architecture: Node-by-Node Explanation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486400" cy="2146742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Trigger:</a:t>
            </a:r>
            <a:r>
              <a:rPr dirty="0"/>
              <a:t> starts the workflow execution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BBC RSS Feed Collector: </a:t>
            </a:r>
            <a:r>
              <a:rPr dirty="0"/>
              <a:t>collects BBC titles and links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Guardian RSS Feed Collector: </a:t>
            </a:r>
            <a:r>
              <a:rPr dirty="0"/>
              <a:t>collects Guardian titles and links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Article Formatter: </a:t>
            </a:r>
            <a:r>
              <a:rPr dirty="0" err="1"/>
              <a:t>standardises</a:t>
            </a:r>
            <a:r>
              <a:rPr dirty="0"/>
              <a:t> title, source and URL fields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Article Limiter: </a:t>
            </a:r>
            <a:r>
              <a:rPr dirty="0"/>
              <a:t>controls sample size for each source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BBC/Guardian Merger: </a:t>
            </a:r>
            <a:r>
              <a:rPr dirty="0"/>
              <a:t>combines both news streams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dirty="0"/>
              <a:t>Article </a:t>
            </a:r>
            <a:r>
              <a:rPr b="1" dirty="0"/>
              <a:t>Preparation Layer: </a:t>
            </a:r>
            <a:r>
              <a:rPr dirty="0"/>
              <a:t>prepares prompt input and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05840"/>
            <a:ext cx="5394960" cy="2146742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LLM News Generator: </a:t>
            </a:r>
            <a:r>
              <a:rPr dirty="0"/>
              <a:t>creates headline-based AI article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LLM Output Formatter: </a:t>
            </a:r>
            <a:r>
              <a:rPr dirty="0"/>
              <a:t>structures generated article output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HTTP Request: </a:t>
            </a:r>
            <a:r>
              <a:rPr dirty="0"/>
              <a:t>retrieves original article webpage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HTML Extract Python Node: </a:t>
            </a:r>
            <a:r>
              <a:rPr dirty="0"/>
              <a:t>removes tags and extracts clean text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Combiner: </a:t>
            </a:r>
            <a:r>
              <a:rPr dirty="0"/>
              <a:t>pairs original and generated articles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Bias Analysis Python Node: </a:t>
            </a:r>
            <a:r>
              <a:rPr dirty="0"/>
              <a:t>calculates metrics</a:t>
            </a:r>
          </a:p>
          <a:p>
            <a:pPr>
              <a:spcAft>
                <a:spcPts val="500"/>
              </a:spcAft>
              <a:defRPr sz="1550">
                <a:solidFill>
                  <a:srgbClr val="1C232D"/>
                </a:solidFill>
              </a:defRPr>
            </a:pPr>
            <a:r>
              <a:rPr b="1" dirty="0"/>
              <a:t>Comparison + Dashboard: </a:t>
            </a:r>
            <a:r>
              <a:rPr dirty="0"/>
              <a:t>produces final research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1">
                <a:solidFill>
                  <a:srgbClr val="163159"/>
                </a:solidFill>
              </a:defRPr>
            </a:pPr>
            <a:r>
              <a:t>Purpose: each node performs one clear step, making the workflow easier to trace and explain.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Methodology: Comparative Experimental Approach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7899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5156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Data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2646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BBC and Guardian RSS feeds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07899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05156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AI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42646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GPT article from headline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0487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5234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HTML cleaning and text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240487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37744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Bias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5234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Word, sentence and document levels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3075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Risk estimation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7822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Similarity and misinformation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730752"/>
            <a:ext cx="45720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03320"/>
            <a:ext cx="438912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800" b="1">
                <a:solidFill>
                  <a:srgbClr val="163159"/>
                </a:solidFill>
              </a:defRPr>
            </a:pPr>
            <a:r>
              <a:t>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78224"/>
            <a:ext cx="4389120" cy="365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550" b="0">
                <a:solidFill>
                  <a:srgbClr val="5F6773"/>
                </a:solidFill>
              </a:defRPr>
            </a:pPr>
            <a:r>
              <a:t>BBC vs Guardian dashboard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332720" cy="5669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800" b="0">
                <a:solidFill>
                  <a:srgbClr val="1C232D"/>
                </a:solidFill>
              </a:defRPr>
            </a:pPr>
            <a:r>
              <a:t>The methodology compares professionally written journalism with AI-generated news-style articles under controlled analytical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GPT Generation and Text Preprocessing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8</a:t>
            </a:r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51560"/>
            <a:ext cx="5303520" cy="19868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051560"/>
            <a:ext cx="4389120" cy="41148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GPT article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45920"/>
            <a:ext cx="5303520" cy="16916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Headline-only input from RSS feed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Approximately 400-word generated article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Neutral and professional journalistic tone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Prompt asks model to avoid unsupported claims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4206240" cy="41148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HTML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97680"/>
            <a:ext cx="5303520" cy="11887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HTTP Request retrieves original article webpage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Python script removes tags, scripts and formatting noise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Clean article text is passed to analysis nodes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03320"/>
            <a:ext cx="43891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Why preprocessing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297680"/>
            <a:ext cx="5303520" cy="11887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Reduces irrelevant webpage noise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Improves consistency of bias and similarity analysis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Keeps analysis focused on journalistic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Bias Analysis Metrics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850392"/>
            <a:ext cx="5212080" cy="978408"/>
          </a:xfrm>
          <a:prstGeom prst="roundRect">
            <a:avLst/>
          </a:prstGeom>
          <a:solidFill>
            <a:srgbClr val="FFFFFF"/>
          </a:solidFill>
          <a:ln>
            <a:solidFill>
              <a:srgbClr val="C6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>
              <a:defRPr sz="1300" b="1">
                <a:solidFill>
                  <a:srgbClr val="A81C44"/>
                </a:solidFill>
              </a:defRPr>
            </a:pPr>
            <a:r>
              <a:t>Word-level bias</a:t>
            </a:r>
          </a:p>
          <a:p>
            <a:pPr algn="ctr">
              <a:defRPr sz="2500" b="1">
                <a:solidFill>
                  <a:srgbClr val="163159"/>
                </a:solidFill>
              </a:defRPr>
            </a:pPr>
            <a:r>
              <a:t>Bias_word = N_biased_terms / N_total_words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4800600" cy="11430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Counts predefined emotionally weighted terms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Normalised by article length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Higher value = stronger emotional wording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714538"/>
            <a:ext cx="5212080" cy="1114262"/>
          </a:xfrm>
          <a:prstGeom prst="roundRect">
            <a:avLst/>
          </a:prstGeom>
          <a:solidFill>
            <a:srgbClr val="FFFFFF"/>
          </a:solidFill>
          <a:ln>
            <a:solidFill>
              <a:srgbClr val="C6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>
              <a:defRPr sz="1300" b="1">
                <a:solidFill>
                  <a:srgbClr val="A81C44"/>
                </a:solidFill>
              </a:defRPr>
            </a:pPr>
            <a:r>
              <a:rPr dirty="0"/>
              <a:t>Sentence / sentiment tone</a:t>
            </a:r>
          </a:p>
          <a:p>
            <a:pPr algn="ctr">
              <a:defRPr sz="2500" b="1">
                <a:solidFill>
                  <a:srgbClr val="163159"/>
                </a:solidFill>
              </a:defRPr>
            </a:pPr>
            <a:r>
              <a:rPr dirty="0"/>
              <a:t>Sentiment = (</a:t>
            </a:r>
            <a:r>
              <a:rPr dirty="0" err="1"/>
              <a:t>N_positive</a:t>
            </a:r>
            <a:r>
              <a:rPr dirty="0"/>
              <a:t> − </a:t>
            </a:r>
            <a:r>
              <a:rPr dirty="0" err="1"/>
              <a:t>N_negative</a:t>
            </a:r>
            <a:r>
              <a:rPr dirty="0"/>
              <a:t>) / </a:t>
            </a:r>
            <a:r>
              <a:rPr dirty="0" err="1"/>
              <a:t>N_total_words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846320" cy="11430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Compares positive and negative vocabulary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Values near zero indicate neutral tone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Used as a simplified sentiment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3840480"/>
            <a:ext cx="8321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6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>
              <a:defRPr sz="1300" b="1">
                <a:solidFill>
                  <a:srgbClr val="A81C44"/>
                </a:solidFill>
              </a:defRPr>
            </a:pPr>
            <a:r>
              <a:t>Document-level bias</a:t>
            </a:r>
          </a:p>
          <a:p>
            <a:pPr algn="ctr">
              <a:defRPr sz="2500" b="1">
                <a:solidFill>
                  <a:srgbClr val="163159"/>
                </a:solidFill>
              </a:defRPr>
            </a:pPr>
            <a:r>
              <a:t>Bias_document = (Bias_word + Bias_sentence)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892040"/>
            <a:ext cx="8138160" cy="7315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Combines word-level and sentence-level measurements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Produces one overall comparative bias indicator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Used to compare original and generated articles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Similarity and Misinformation Risk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108813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6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>
              <a:defRPr sz="1300" b="1">
                <a:solidFill>
                  <a:srgbClr val="A81C44"/>
                </a:solidFill>
              </a:defRPr>
            </a:pPr>
            <a:r>
              <a:t>Semantic overlap measurement</a:t>
            </a:r>
          </a:p>
          <a:p>
            <a:pPr algn="ctr">
              <a:defRPr sz="2500" b="1">
                <a:solidFill>
                  <a:srgbClr val="163159"/>
                </a:solidFill>
              </a:defRPr>
            </a:pPr>
            <a:r>
              <a:t>Similarity = (2 × N_overlap) / (N_unique_original + N_unique_generated)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0332720" cy="10972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Compares shared unique vocabulary between original and AI-generated articles.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Higher similarity = stronger alignment with the source article.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Implemented as semantic overlap rather than true vector-based cosine similarity.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840480"/>
            <a:ext cx="7132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6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36576" rtlCol="0" anchor="ctr"/>
          <a:lstStyle/>
          <a:p>
            <a:pPr algn="ctr">
              <a:defRPr sz="1300" b="1">
                <a:solidFill>
                  <a:srgbClr val="A81C44"/>
                </a:solidFill>
              </a:defRPr>
            </a:pPr>
            <a:r>
              <a:t>Misinformation risk estimation</a:t>
            </a:r>
          </a:p>
          <a:p>
            <a:pPr algn="ctr">
              <a:defRPr sz="2500" b="1">
                <a:solidFill>
                  <a:srgbClr val="163159"/>
                </a:solidFill>
              </a:defRPr>
            </a:pPr>
            <a:r>
              <a:t>Risk_misinfo = 1 −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983480"/>
            <a:ext cx="8138160" cy="8229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Lower overlap increases risk score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Indicates potential unsupported interpretation or narrative variation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Not a replacement for professional fact-checking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Responsible AI Principles Implemented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4937760" cy="45720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Transparency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634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1C232D"/>
                </a:solidFill>
              </a:defRPr>
            </a:pPr>
            <a:r>
              <a:t>Original and AI-generated articles kept separate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43000"/>
            <a:ext cx="493776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Explainability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1C232D"/>
                </a:solidFill>
              </a:defRPr>
            </a:pPr>
            <a:r>
              <a:t>Bias, sentiment, similarity and risk scores displayed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4937760" cy="45720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Accountability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6634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1C232D"/>
                </a:solidFill>
              </a:defRPr>
            </a:pPr>
            <a:r>
              <a:t>Limitations and uncertainty clearly acknowledged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971800"/>
            <a:ext cx="493776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Source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7600"/>
            <a:ext cx="466344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0">
                <a:solidFill>
                  <a:srgbClr val="1C232D"/>
                </a:solidFill>
              </a:defRPr>
            </a:pPr>
            <a:r>
              <a:t>RSS source name, title and link retained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Results: Comparative Bias Analysis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78992"/>
          <a:ext cx="4114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Bias Score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32D"/>
                          </a:solidFill>
                        </a:defRPr>
                      </a:pPr>
                      <a:r>
                        <a:t>BBC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32D"/>
                          </a:solidFill>
                        </a:defRPr>
                      </a:pPr>
                      <a:r>
                        <a:t>0.0374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32D"/>
                          </a:solidFill>
                        </a:defRPr>
                      </a:pPr>
                      <a:r>
                        <a:t>Guardian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C232D"/>
                          </a:solidFill>
                        </a:defRPr>
                      </a:pPr>
                      <a:r>
                        <a:t>0.0302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Picture 6" descr="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960120"/>
            <a:ext cx="5943600" cy="370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063240"/>
            <a:ext cx="4297680" cy="118872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BBC articles produced a slightly higher average bias score.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Both scores remain low in absolute terms.</a:t>
            </a:r>
          </a:p>
          <a:p>
            <a:pPr>
              <a:spcAft>
                <a:spcPts val="500"/>
              </a:spcAft>
              <a:defRPr sz="1700">
                <a:solidFill>
                  <a:srgbClr val="1C232D"/>
                </a:solidFill>
              </a:defRPr>
            </a:pPr>
            <a:r>
              <a:t>Interpretation: minor measurable differences in linguistic framing.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A81C44"/>
                </a:solidFill>
              </a:defRPr>
            </a:pPr>
            <a:r>
              <a:t>Bias score is an indicator of emotionally weighted wording, not definitive political bias.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Results: Misinformation Risk Evaluation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05840"/>
          <a:ext cx="4709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 Score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63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BBC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0.8123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Guardian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0.7904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Overall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0.8013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C232D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914400"/>
            <a:ext cx="5715000" cy="3563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383280"/>
            <a:ext cx="4572000" cy="14630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All generated outputs were classified as high risk using the selected threshold.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BBC-generated articles showed slightly higher risk than Guardian-generated articles.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Risk reflects reduced overlap and possible narrative variation, not confirmed misinformation.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241280" cy="38404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1700" b="1">
                <a:solidFill>
                  <a:srgbClr val="A81C44"/>
                </a:solidFill>
              </a:defRPr>
            </a:pPr>
            <a:r>
              <a:t>A high score means the generated article differed substantially from the original source text.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Key Findings, Limitations and Future Work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383280" cy="457200"/>
          </a:xfrm>
          <a:prstGeom prst="roundRect">
            <a:avLst/>
          </a:prstGeom>
          <a:solidFill>
            <a:srgbClr val="E6EEFA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120640" cy="19202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AI-generated articles remained coherent and readable.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Measurable differences appeared in wording and sentiment intensity.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Semantic overlap varied between original and generated articles.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The workflow produced explainable comparative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51560"/>
            <a:ext cx="338328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03520" cy="192024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No external fact-checking database was used.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Lexicon-based bias analysis is simplified.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Context, political nuance and intention are difficult to automate.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Only BBC and Guardian sources were evaluated.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297680"/>
            <a:ext cx="76809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600" b="1">
                <a:solidFill>
                  <a:srgbClr val="163159"/>
                </a:solidFill>
              </a:defRPr>
            </a:pPr>
            <a:r>
              <a:t>Future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892040"/>
            <a:ext cx="7863840" cy="68580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Fact-checking APIs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Transformer-based semantic models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Additional news sources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Human review stage</a:t>
            </a:r>
          </a:p>
          <a:p>
            <a:pPr>
              <a:spcAft>
                <a:spcPts val="500"/>
              </a:spcAft>
              <a:defRPr sz="1650">
                <a:solidFill>
                  <a:srgbClr val="1C232D"/>
                </a:solidFill>
              </a:defRPr>
            </a:pPr>
            <a:r>
              <a:t>Multilingual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1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63159"/>
                </a:solidFill>
              </a:defRPr>
            </a:pPr>
            <a:r>
              <a:t>Conclusion and Questions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283464"/>
            <a:ext cx="1005840" cy="4310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510528"/>
            <a:ext cx="111556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773"/>
                </a:solidFill>
              </a:defRPr>
            </a:pPr>
            <a:r>
              <a:t>MSc AI Dissertation Viva  •  Muhammad Rizwan Riaz  •  Slide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6400800" cy="201168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An automated agentic AI workflow was developed in n8n.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BBC and Guardian news articles were collected and compared with GPT-generated outputs.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Python scripts calculated bias, sentiment, similarity and misinformation risk indicators.</a:t>
            </a:r>
          </a:p>
          <a:p>
            <a:pPr>
              <a:spcAft>
                <a:spcPts val="500"/>
              </a:spcAft>
              <a:defRPr sz="1800">
                <a:solidFill>
                  <a:srgbClr val="1C232D"/>
                </a:solidFill>
              </a:defRPr>
            </a:pPr>
            <a:r>
              <a:t>Responsible AI was addressed through transparency, explainability, accountability and source traceability.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663440"/>
            <a:ext cx="457200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400" b="1">
                <a:solidFill>
                  <a:srgbClr val="A81C44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5349240"/>
            <a:ext cx="4572000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800" b="1">
                <a:solidFill>
                  <a:srgbClr val="163159"/>
                </a:solidFill>
              </a:defRPr>
            </a:pPr>
            <a:r>
              <a:t>Questions?</a:t>
            </a:r>
          </a:p>
        </p:txBody>
      </p:sp>
      <p:sp>
        <p:nvSpPr>
          <p:cNvPr id="12" name="Rounded Rectangle 7"/>
          <p:cNvSpPr/>
          <p:nvPr/>
        </p:nvSpPr>
        <p:spPr>
          <a:xfrm>
            <a:off x="731520" y="1053955"/>
            <a:ext cx="3017520" cy="457200"/>
          </a:xfrm>
          <a:prstGeom prst="roundRect">
            <a:avLst/>
          </a:prstGeom>
          <a:solidFill>
            <a:srgbClr val="FCEAF0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>
              <a:defRPr sz="2400" b="1">
                <a:solidFill>
                  <a:srgbClr val="163159"/>
                </a:solidFill>
              </a:defRPr>
            </a:pPr>
            <a:r>
              <a:rPr lang="en-US"/>
              <a:t>Conclusion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1681</Words>
  <Application>Microsoft Office PowerPoint</Application>
  <PresentationFormat>Widescreen</PresentationFormat>
  <Paragraphs>227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Rizwan Riaz</cp:lastModifiedBy>
  <cp:revision>3</cp:revision>
  <dcterms:created xsi:type="dcterms:W3CDTF">2013-01-27T09:14:16Z</dcterms:created>
  <dcterms:modified xsi:type="dcterms:W3CDTF">2026-06-15T22:07:12Z</dcterms:modified>
  <cp:category/>
</cp:coreProperties>
</file>